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914400" y="1371600"/>
            <a:ext cx="7315200" cy="914400"/>
          </a:xfrm>
          <a:prstGeom prst="rect">
            <a:avLst/>
          </a:prstGeom>
          <a:noFill/>
          <a:ln/>
        </p:spPr>
        <p:txBody>
          <a:bodyPr wrap="square" rtlCol="0" anchor="ctr"/>
          <a:lstStyle/>
          <a:p>
            <a:pPr algn="ctr" indent="0" marL="0">
              <a:buNone/>
            </a:pPr>
            <a:r>
              <a:rPr lang="en-US" sz="3600" b="1" dirty="0">
                <a:solidFill>
                  <a:srgbClr val="003366"/>
                </a:solidFill>
              </a:rPr>
              <a:t>🏦 ACH Payment &amp; Positive Pay AI Triage System v3.0</a:t>
            </a:r>
            <a:endParaRPr lang="en-US" sz="3600" dirty="0"/>
          </a:p>
        </p:txBody>
      </p:sp>
      <p:sp>
        <p:nvSpPr>
          <p:cNvPr id="3" name="Text 1"/>
          <p:cNvSpPr/>
          <p:nvPr/>
        </p:nvSpPr>
        <p:spPr>
          <a:xfrm>
            <a:off x="914400" y="2286000"/>
            <a:ext cx="7315200" cy="914400"/>
          </a:xfrm>
          <a:prstGeom prst="rect">
            <a:avLst/>
          </a:prstGeom>
          <a:noFill/>
          <a:ln/>
        </p:spPr>
        <p:txBody>
          <a:bodyPr wrap="square" rtlCol="0" anchor="ctr"/>
          <a:lstStyle/>
          <a:p>
            <a:pPr algn="ctr" indent="0" marL="0">
              <a:buNone/>
            </a:pPr>
            <a:r>
              <a:rPr lang="en-US" sz="2400" dirty="0">
                <a:solidFill>
                  <a:srgbClr val="666666"/>
                </a:solidFill>
              </a:rPr>
              <a:t>Comprehensive System Overview &amp; Architecture</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457200"/>
            <a:ext cx="8229600" cy="457200"/>
          </a:xfrm>
          <a:prstGeom prst="rect">
            <a:avLst/>
          </a:prstGeom>
          <a:noFill/>
          <a:ln/>
        </p:spPr>
        <p:txBody>
          <a:bodyPr wrap="square" rtlCol="0" anchor="ctr"/>
          <a:lstStyle/>
          <a:p>
            <a:pPr indent="0" marL="0">
              <a:buNone/>
            </a:pPr>
            <a:r>
              <a:rPr lang="en-US" sz="2800" b="1" dirty="0">
                <a:solidFill>
                  <a:srgbClr val="003366"/>
                </a:solidFill>
              </a:rPr>
              <a:t>1. System Overview &amp; Architecture</a:t>
            </a:r>
            <a:endParaRPr lang="en-US" sz="2800" dirty="0"/>
          </a:p>
        </p:txBody>
      </p:sp>
      <p:sp>
        <p:nvSpPr>
          <p:cNvPr id="3" name="Text 1"/>
          <p:cNvSpPr/>
          <p:nvPr/>
        </p:nvSpPr>
        <p:spPr>
          <a:xfrm>
            <a:off x="457200" y="1371600"/>
            <a:ext cx="8229600" cy="1371600"/>
          </a:xfrm>
          <a:prstGeom prst="rect">
            <a:avLst/>
          </a:prstGeom>
          <a:noFill/>
          <a:ln/>
        </p:spPr>
        <p:txBody>
          <a:bodyPr wrap="square" rtlCol="0" anchor="ctr"/>
          <a:lstStyle/>
          <a:p>
            <a:pPr indent="0" marL="0">
              <a:buNone/>
            </a:pPr>
            <a:r>
              <a:rPr lang="en-US" sz="1600" dirty="0">
                <a:solidFill>
                  <a:srgbClr val="333333"/>
                </a:solidFill>
              </a:rPr>
              <a:t>Theory:</a:t>
            </a:r>
            <a:endParaRPr lang="en-US" sz="1600" dirty="0"/>
          </a:p>
          <a:p>
            <a:pPr indent="0" marL="0">
              <a:buNone/>
            </a:pPr>
            <a:r>
              <a:rPr lang="en-US" sz="1600" dirty="0">
                <a:solidFill>
                  <a:srgbClr val="333333"/>
                </a:solidFill>
              </a:rPr>
              <a:t>The ACH AI Triage System v3.0 is a comprehensive, NACHA-compliant processing engine designed to modernize payment operations. It leverages deterministic rules (Risk Engine) combined with Generative AI (Gemini) and continuous Rich Learning to automate payment approvals, flag anomalies, and provide exception management. The system supports full NACHA parsing, Positive Pay matching, and bulk file uploads.</a:t>
            </a:r>
            <a:endParaRPr lang="en-US" sz="1600" dirty="0"/>
          </a:p>
        </p:txBody>
      </p:sp>
      <p:sp>
        <p:nvSpPr>
          <p:cNvPr id="4" name="Text 2"/>
          <p:cNvSpPr/>
          <p:nvPr/>
        </p:nvSpPr>
        <p:spPr>
          <a:xfrm>
            <a:off x="457200" y="2926080"/>
            <a:ext cx="8229600" cy="1371600"/>
          </a:xfrm>
          <a:prstGeom prst="rect">
            <a:avLst/>
          </a:prstGeom>
          <a:solidFill>
            <a:srgbClr val="EFEFEF"/>
          </a:solidFill>
          <a:ln/>
        </p:spPr>
        <p:txBody>
          <a:bodyPr wrap="square" rtlCol="0" anchor="ctr"/>
          <a:lstStyle/>
          <a:p>
            <a:pPr algn="l" indent="0" marL="0">
              <a:buNone/>
            </a:pPr>
            <a:r>
              <a:rPr lang="en-US" sz="1400" dirty="0">
                <a:solidFill>
                  <a:srgbClr val="000000"/>
                </a:solidFill>
              </a:rPr>
              <a:t>Architecture Flow:</a:t>
            </a:r>
            <a:endParaRPr lang="en-US" sz="1400" dirty="0"/>
          </a:p>
          <a:p>
            <a:pPr algn="l" indent="0" marL="0">
              <a:buNone/>
            </a:pPr>
            <a:r>
              <a:rPr lang="en-US" sz="1400" dirty="0">
                <a:solidFill>
                  <a:srgbClr val="000000"/>
                </a:solidFill>
              </a:rPr>
              <a:t>Client UI / Bulk Upload -&gt; API Gateway -&gt; NACHA/CSV Parser -&gt; Risk Engine</a:t>
            </a:r>
            <a:endParaRPr lang="en-US" sz="1400" dirty="0"/>
          </a:p>
          <a:p>
            <a:pPr algn="l" indent="0" marL="0">
              <a:buNone/>
            </a:pPr>
            <a:r>
              <a:rPr lang="en-US" sz="1400" dirty="0">
                <a:solidFill>
                  <a:srgbClr val="000000"/>
                </a:solidFill>
              </a:rPr>
              <a:t>Risk Level 1 -&gt; AI Triage (Auto Approve) -&gt; DB</a:t>
            </a:r>
            <a:endParaRPr lang="en-US" sz="1400" dirty="0"/>
          </a:p>
          <a:p>
            <a:pPr algn="l" indent="0" marL="0">
              <a:buNone/>
            </a:pPr>
            <a:r>
              <a:rPr lang="en-US" sz="1400" dirty="0">
                <a:solidFill>
                  <a:srgbClr val="000000"/>
                </a:solidFill>
              </a:rPr>
              <a:t>Risk Level 2/3 -&gt; AI Triage (Review Brief) -&gt; DB -&gt; Exception Dashboard -&gt; Human Decision -&gt; Rich Learning Pipeline</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457200"/>
            <a:ext cx="8229600" cy="457200"/>
          </a:xfrm>
          <a:prstGeom prst="rect">
            <a:avLst/>
          </a:prstGeom>
          <a:noFill/>
          <a:ln/>
        </p:spPr>
        <p:txBody>
          <a:bodyPr wrap="square" rtlCol="0" anchor="ctr"/>
          <a:lstStyle/>
          <a:p>
            <a:pPr indent="0" marL="0">
              <a:buNone/>
            </a:pPr>
            <a:r>
              <a:rPr lang="en-US" sz="2800" b="1" dirty="0">
                <a:solidFill>
                  <a:srgbClr val="003366"/>
                </a:solidFill>
              </a:rPr>
              <a:t>2. NACHA &amp; CSV Parsing Engine</a:t>
            </a:r>
            <a:endParaRPr lang="en-US" sz="2800" dirty="0"/>
          </a:p>
        </p:txBody>
      </p:sp>
      <p:sp>
        <p:nvSpPr>
          <p:cNvPr id="3" name="Text 1"/>
          <p:cNvSpPr/>
          <p:nvPr/>
        </p:nvSpPr>
        <p:spPr>
          <a:xfrm>
            <a:off x="457200" y="1371600"/>
            <a:ext cx="8229600" cy="2286000"/>
          </a:xfrm>
          <a:prstGeom prst="rect">
            <a:avLst/>
          </a:prstGeom>
          <a:noFill/>
          <a:ln/>
        </p:spPr>
        <p:txBody>
          <a:bodyPr wrap="square" rtlCol="0" anchor="ctr"/>
          <a:lstStyle/>
          <a:p>
            <a:pPr indent="0" marL="0">
              <a:buNone/>
            </a:pPr>
            <a:r>
              <a:rPr lang="en-US" sz="1600" dirty="0">
                <a:solidFill>
                  <a:srgbClr val="333333"/>
                </a:solidFill>
              </a:rPr>
              <a:t>Functionality:</a:t>
            </a:r>
            <a:endParaRPr lang="en-US" sz="1600" dirty="0"/>
          </a:p>
          <a:p>
            <a:pPr indent="0" marL="0">
              <a:buNone/>
            </a:pPr>
            <a:r>
              <a:rPr lang="en-US" sz="1600" dirty="0">
                <a:solidFill>
                  <a:srgbClr val="333333"/>
                </a:solidFill>
              </a:rPr>
              <a:t>The system ingests standardized payment files formats (.nacha, .csv) and normalizes them into structured transaction objects.</a:t>
            </a:r>
            <a:endParaRPr lang="en-US" sz="1600" dirty="0"/>
          </a:p>
          <a:p>
            <a:pPr indent="0" marL="0">
              <a:buNone/>
            </a:pPr>
            <a:endParaRPr lang="en-US" sz="1600" dirty="0"/>
          </a:p>
          <a:p>
            <a:pPr indent="0" marL="0">
              <a:buNone/>
            </a:pPr>
            <a:r>
              <a:rPr lang="en-US" sz="1600" dirty="0">
                <a:solidFill>
                  <a:srgbClr val="333333"/>
                </a:solidFill>
              </a:rPr>
              <a:t>Theory:</a:t>
            </a:r>
            <a:endParaRPr lang="en-US" sz="1600" dirty="0"/>
          </a:p>
          <a:p>
            <a:pPr indent="0" marL="0">
              <a:buNone/>
            </a:pPr>
            <a:r>
              <a:rPr lang="en-US" sz="1600" dirty="0">
                <a:solidFill>
                  <a:srgbClr val="333333"/>
                </a:solidFill>
              </a:rPr>
              <a:t>NACHA files are fixed-width text files (94 characters per line). The parser extracts File Headers (1), Batch Headers (5), Entry Details (6), Addenda (7), and Batch Controls (8). It validates Mod-10 routing numbers and ensures batch credit/debit totals match the declared sums.</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457200"/>
            <a:ext cx="8229600" cy="457200"/>
          </a:xfrm>
          <a:prstGeom prst="rect">
            <a:avLst/>
          </a:prstGeom>
          <a:noFill/>
          <a:ln/>
        </p:spPr>
        <p:txBody>
          <a:bodyPr wrap="square" rtlCol="0" anchor="ctr"/>
          <a:lstStyle/>
          <a:p>
            <a:pPr indent="0" marL="0">
              <a:buNone/>
            </a:pPr>
            <a:r>
              <a:rPr lang="en-US" sz="2800" b="1" dirty="0">
                <a:solidFill>
                  <a:srgbClr val="003366"/>
                </a:solidFill>
              </a:rPr>
              <a:t>3. Deterministic Risk Engine</a:t>
            </a:r>
            <a:endParaRPr lang="en-US" sz="2800" dirty="0"/>
          </a:p>
        </p:txBody>
      </p:sp>
      <p:sp>
        <p:nvSpPr>
          <p:cNvPr id="3" name="Text 1"/>
          <p:cNvSpPr/>
          <p:nvPr/>
        </p:nvSpPr>
        <p:spPr>
          <a:xfrm>
            <a:off x="457200" y="1371600"/>
            <a:ext cx="8229600" cy="2743200"/>
          </a:xfrm>
          <a:prstGeom prst="rect">
            <a:avLst/>
          </a:prstGeom>
          <a:noFill/>
          <a:ln/>
        </p:spPr>
        <p:txBody>
          <a:bodyPr wrap="square" rtlCol="0" anchor="ctr"/>
          <a:lstStyle/>
          <a:p>
            <a:pPr indent="0" marL="0">
              <a:buNone/>
            </a:pPr>
            <a:r>
              <a:rPr lang="en-US" sz="1600" dirty="0">
                <a:solidFill>
                  <a:srgbClr val="333333"/>
                </a:solidFill>
              </a:rPr>
              <a:t>Functionality:</a:t>
            </a:r>
            <a:endParaRPr lang="en-US" sz="1600" dirty="0"/>
          </a:p>
          <a:p>
            <a:pPr indent="0" marL="0">
              <a:buNone/>
            </a:pPr>
            <a:r>
              <a:rPr lang="en-US" sz="1600" dirty="0">
                <a:solidFill>
                  <a:srgbClr val="333333"/>
                </a:solidFill>
              </a:rPr>
              <a:t>Every parsed transaction is run against a suite of highly customizable risk rules (e.g., amount thresholds, new originators, invalid RTNs, OFAC lists).</a:t>
            </a:r>
            <a:endParaRPr lang="en-US" sz="1600" dirty="0"/>
          </a:p>
          <a:p>
            <a:pPr indent="0" marL="0">
              <a:buNone/>
            </a:pPr>
            <a:endParaRPr lang="en-US" sz="1600" dirty="0"/>
          </a:p>
          <a:p>
            <a:pPr indent="0" marL="0">
              <a:buNone/>
            </a:pPr>
            <a:r>
              <a:rPr lang="en-US" sz="1600" dirty="0">
                <a:solidFill>
                  <a:srgbClr val="333333"/>
                </a:solidFill>
              </a:rPr>
              <a:t>Theory:</a:t>
            </a:r>
            <a:endParaRPr lang="en-US" sz="1600" dirty="0"/>
          </a:p>
          <a:p>
            <a:pPr indent="0" marL="0">
              <a:buNone/>
            </a:pPr>
            <a:r>
              <a:rPr lang="en-US" sz="1600" dirty="0">
                <a:solidFill>
                  <a:srgbClr val="333333"/>
                </a:solidFill>
              </a:rPr>
              <a:t>The Risk Engine evaluates transaction properties against a set of rules. Each triggered rule has a defined weight and flag level.</a:t>
            </a:r>
            <a:endParaRPr lang="en-US" sz="1600" dirty="0"/>
          </a:p>
          <a:p>
            <a:pPr indent="0" marL="0">
              <a:buNone/>
            </a:pPr>
            <a:r>
              <a:rPr lang="en-US" sz="1600" dirty="0">
                <a:solidFill>
                  <a:srgbClr val="333333"/>
                </a:solidFill>
              </a:rPr>
              <a:t>• Level 1: Zero-touch automation (Score &lt; 30)</a:t>
            </a:r>
            <a:endParaRPr lang="en-US" sz="1600" dirty="0"/>
          </a:p>
          <a:p>
            <a:pPr indent="0" marL="0">
              <a:buNone/>
            </a:pPr>
            <a:r>
              <a:rPr lang="en-US" sz="1600" dirty="0">
                <a:solidFill>
                  <a:srgbClr val="333333"/>
                </a:solidFill>
              </a:rPr>
              <a:t>• Level 2: Medium risk, requires careful review (Score 30-69)</a:t>
            </a:r>
            <a:endParaRPr lang="en-US" sz="1600" dirty="0"/>
          </a:p>
          <a:p>
            <a:pPr indent="0" marL="0">
              <a:buNone/>
            </a:pPr>
            <a:r>
              <a:rPr lang="en-US" sz="1600" dirty="0">
                <a:solidFill>
                  <a:srgbClr val="333333"/>
                </a:solidFill>
              </a:rPr>
              <a:t>• Level 3: Critical risk, mandatory oversight (Score 70+)</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457200"/>
            <a:ext cx="8229600" cy="457200"/>
          </a:xfrm>
          <a:prstGeom prst="rect">
            <a:avLst/>
          </a:prstGeom>
          <a:noFill/>
          <a:ln/>
        </p:spPr>
        <p:txBody>
          <a:bodyPr wrap="square" rtlCol="0" anchor="ctr"/>
          <a:lstStyle/>
          <a:p>
            <a:pPr indent="0" marL="0">
              <a:buNone/>
            </a:pPr>
            <a:r>
              <a:rPr lang="en-US" sz="2800" b="1" dirty="0">
                <a:solidFill>
                  <a:srgbClr val="003366"/>
                </a:solidFill>
              </a:rPr>
              <a:t>4. AI Triage &amp; Gemini Integration</a:t>
            </a:r>
            <a:endParaRPr lang="en-US" sz="2800" dirty="0"/>
          </a:p>
        </p:txBody>
      </p:sp>
      <p:sp>
        <p:nvSpPr>
          <p:cNvPr id="3" name="Text 1"/>
          <p:cNvSpPr/>
          <p:nvPr/>
        </p:nvSpPr>
        <p:spPr>
          <a:xfrm>
            <a:off x="457200" y="1371600"/>
            <a:ext cx="8229600" cy="2743200"/>
          </a:xfrm>
          <a:prstGeom prst="rect">
            <a:avLst/>
          </a:prstGeom>
          <a:noFill/>
          <a:ln/>
        </p:spPr>
        <p:txBody>
          <a:bodyPr wrap="square" rtlCol="0" anchor="ctr"/>
          <a:lstStyle/>
          <a:p>
            <a:pPr indent="0" marL="0">
              <a:buNone/>
            </a:pPr>
            <a:r>
              <a:rPr lang="en-US" sz="1600" dirty="0">
                <a:solidFill>
                  <a:srgbClr val="333333"/>
                </a:solidFill>
              </a:rPr>
              <a:t>Functionality:</a:t>
            </a:r>
            <a:endParaRPr lang="en-US" sz="1600" dirty="0"/>
          </a:p>
          <a:p>
            <a:pPr indent="0" marL="0">
              <a:buNone/>
            </a:pPr>
            <a:r>
              <a:rPr lang="en-US" sz="1600" dirty="0">
                <a:solidFill>
                  <a:srgbClr val="333333"/>
                </a:solidFill>
              </a:rPr>
              <a:t>Generates intelligent narratives to support human reviewers or provide an immutable audit trail for auto-approvals.</a:t>
            </a:r>
            <a:endParaRPr lang="en-US" sz="1600" dirty="0"/>
          </a:p>
          <a:p>
            <a:pPr indent="0" marL="0">
              <a:buNone/>
            </a:pPr>
            <a:endParaRPr lang="en-US" sz="1600" dirty="0"/>
          </a:p>
          <a:p>
            <a:pPr indent="0" marL="0">
              <a:buNone/>
            </a:pPr>
            <a:r>
              <a:rPr lang="en-US" sz="1600" dirty="0">
                <a:solidFill>
                  <a:srgbClr val="333333"/>
                </a:solidFill>
              </a:rPr>
              <a:t>Theory:</a:t>
            </a:r>
            <a:endParaRPr lang="en-US" sz="1600" dirty="0"/>
          </a:p>
          <a:p>
            <a:pPr indent="0" marL="0">
              <a:buNone/>
            </a:pPr>
            <a:r>
              <a:rPr lang="en-US" sz="1600" dirty="0">
                <a:solidFill>
                  <a:srgbClr val="333333"/>
                </a:solidFill>
              </a:rPr>
              <a:t>If a transaction is Level 1, the AI Engine uses an LLM (Gemini) to generate Compliance Notes—a documented audit trail proving Reg E and NACHA compliance. For Levels 2 &amp; 3, it generates a Review Brief, summarizing flagged rules in plain English, analyzing historical patterns, and offering a pre-populated compliance checklist for the human analyst.</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457200"/>
            <a:ext cx="8229600" cy="457200"/>
          </a:xfrm>
          <a:prstGeom prst="rect">
            <a:avLst/>
          </a:prstGeom>
          <a:noFill/>
          <a:ln/>
        </p:spPr>
        <p:txBody>
          <a:bodyPr wrap="square" rtlCol="0" anchor="ctr"/>
          <a:lstStyle/>
          <a:p>
            <a:pPr indent="0" marL="0">
              <a:buNone/>
            </a:pPr>
            <a:r>
              <a:rPr lang="en-US" sz="2800" b="1" dirty="0">
                <a:solidFill>
                  <a:srgbClr val="003366"/>
                </a:solidFill>
              </a:rPr>
              <a:t>5. Rich Learning Pipeline</a:t>
            </a:r>
            <a:endParaRPr lang="en-US" sz="2800" dirty="0"/>
          </a:p>
        </p:txBody>
      </p:sp>
      <p:sp>
        <p:nvSpPr>
          <p:cNvPr id="3" name="Text 1"/>
          <p:cNvSpPr/>
          <p:nvPr/>
        </p:nvSpPr>
        <p:spPr>
          <a:xfrm>
            <a:off x="457200" y="1371600"/>
            <a:ext cx="8229600" cy="2743200"/>
          </a:xfrm>
          <a:prstGeom prst="rect">
            <a:avLst/>
          </a:prstGeom>
          <a:noFill/>
          <a:ln/>
        </p:spPr>
        <p:txBody>
          <a:bodyPr wrap="square" rtlCol="0" anchor="ctr"/>
          <a:lstStyle/>
          <a:p>
            <a:pPr indent="0" marL="0">
              <a:buNone/>
            </a:pPr>
            <a:r>
              <a:rPr lang="en-US" sz="1600" dirty="0">
                <a:solidFill>
                  <a:srgbClr val="333333"/>
                </a:solidFill>
              </a:rPr>
              <a:t>Functionality:</a:t>
            </a:r>
            <a:endParaRPr lang="en-US" sz="1600" dirty="0"/>
          </a:p>
          <a:p>
            <a:pPr indent="0" marL="0">
              <a:buNone/>
            </a:pPr>
            <a:r>
              <a:rPr lang="en-US" sz="1600" dirty="0">
                <a:solidFill>
                  <a:srgbClr val="333333"/>
                </a:solidFill>
              </a:rPr>
              <a:t>Continuous improvement of the Risk Engine based on Human Decisions. High-confidence patterns are automatically promoted to Level 1.</a:t>
            </a:r>
            <a:endParaRPr lang="en-US" sz="1600" dirty="0"/>
          </a:p>
          <a:p>
            <a:pPr indent="0" marL="0">
              <a:buNone/>
            </a:pPr>
            <a:endParaRPr lang="en-US" sz="1600" dirty="0"/>
          </a:p>
          <a:p>
            <a:pPr indent="0" marL="0">
              <a:buNone/>
            </a:pPr>
            <a:r>
              <a:rPr lang="en-US" sz="1600" dirty="0">
                <a:solidFill>
                  <a:srgbClr val="333333"/>
                </a:solidFill>
              </a:rPr>
              <a:t>Theory:</a:t>
            </a:r>
            <a:endParaRPr lang="en-US" sz="1600" dirty="0"/>
          </a:p>
          <a:p>
            <a:pPr indent="0" marL="0">
              <a:buNone/>
            </a:pPr>
            <a:r>
              <a:rPr lang="en-US" sz="1600" dirty="0">
                <a:solidFill>
                  <a:srgbClr val="333333"/>
                </a:solidFill>
              </a:rPr>
              <a:t>When a reviewer makes a decision via the Exception Dashboard, they provide rich context (fraud indicators, business purpose, verification methods). The system hashes the transaction parameters (SEC code, amount bucket, flag codes) to create a pattern hash. Repeated, confident approvals of the same hash increase its confidence score. Once a pattern meets MIN_DECISIONS and CONF_THRESHOLD (85%), it is auto-promoted to Level 1.</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457200"/>
            <a:ext cx="8229600" cy="457200"/>
          </a:xfrm>
          <a:prstGeom prst="rect">
            <a:avLst/>
          </a:prstGeom>
          <a:noFill/>
          <a:ln/>
        </p:spPr>
        <p:txBody>
          <a:bodyPr wrap="square" rtlCol="0" anchor="ctr"/>
          <a:lstStyle/>
          <a:p>
            <a:pPr indent="0" marL="0">
              <a:buNone/>
            </a:pPr>
            <a:r>
              <a:rPr lang="en-US" sz="2800" b="1" dirty="0">
                <a:solidFill>
                  <a:srgbClr val="003366"/>
                </a:solidFill>
              </a:rPr>
              <a:t>6. Exception Dashboard &amp; Cutoff Deadlines</a:t>
            </a:r>
            <a:endParaRPr lang="en-US" sz="2800" dirty="0"/>
          </a:p>
        </p:txBody>
      </p:sp>
      <p:sp>
        <p:nvSpPr>
          <p:cNvPr id="3" name="Text 1"/>
          <p:cNvSpPr/>
          <p:nvPr/>
        </p:nvSpPr>
        <p:spPr>
          <a:xfrm>
            <a:off x="457200" y="1371600"/>
            <a:ext cx="8229600" cy="2743200"/>
          </a:xfrm>
          <a:prstGeom prst="rect">
            <a:avLst/>
          </a:prstGeom>
          <a:noFill/>
          <a:ln/>
        </p:spPr>
        <p:txBody>
          <a:bodyPr wrap="square" rtlCol="0" anchor="ctr"/>
          <a:lstStyle/>
          <a:p>
            <a:pPr indent="0" marL="0">
              <a:buNone/>
            </a:pPr>
            <a:r>
              <a:rPr lang="en-US" sz="1600" dirty="0">
                <a:solidFill>
                  <a:srgbClr val="333333"/>
                </a:solidFill>
              </a:rPr>
              <a:t>Functionality:</a:t>
            </a:r>
            <a:endParaRPr lang="en-US" sz="1600" dirty="0"/>
          </a:p>
          <a:p>
            <a:pPr indent="0" marL="0">
              <a:buNone/>
            </a:pPr>
            <a:r>
              <a:rPr lang="en-US" sz="1600" dirty="0">
                <a:solidFill>
                  <a:srgbClr val="333333"/>
                </a:solidFill>
              </a:rPr>
              <a:t>A specialized queue for Operations teams to process flagged transactions before daily ACH clearing cutoff windows.</a:t>
            </a:r>
            <a:endParaRPr lang="en-US" sz="1600" dirty="0"/>
          </a:p>
          <a:p>
            <a:pPr indent="0" marL="0">
              <a:buNone/>
            </a:pPr>
            <a:endParaRPr lang="en-US" sz="1600" dirty="0"/>
          </a:p>
          <a:p>
            <a:pPr indent="0" marL="0">
              <a:buNone/>
            </a:pPr>
            <a:r>
              <a:rPr lang="en-US" sz="1600" dirty="0">
                <a:solidFill>
                  <a:srgbClr val="333333"/>
                </a:solidFill>
              </a:rPr>
              <a:t>Theory:</a:t>
            </a:r>
            <a:endParaRPr lang="en-US" sz="1600" dirty="0"/>
          </a:p>
          <a:p>
            <a:pPr indent="0" marL="0">
              <a:buNone/>
            </a:pPr>
            <a:r>
              <a:rPr lang="en-US" sz="1600" dirty="0">
                <a:solidFill>
                  <a:srgbClr val="333333"/>
                </a:solidFill>
              </a:rPr>
              <a:t>Accounts have defined cutoff_time values (e.g., 14:00). The dashboard calculates the exact countdown timer (ms_remaining) for each exception. If a decision is not made before the deadline, the system automatically applies the account default action (Pay or Return), ensuring regulatory compliance and preventing late returns.</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457200"/>
            <a:ext cx="8229600" cy="457200"/>
          </a:xfrm>
          <a:prstGeom prst="rect">
            <a:avLst/>
          </a:prstGeom>
          <a:noFill/>
          <a:ln/>
        </p:spPr>
        <p:txBody>
          <a:bodyPr wrap="square" rtlCol="0" anchor="ctr"/>
          <a:lstStyle/>
          <a:p>
            <a:pPr indent="0" marL="0">
              <a:buNone/>
            </a:pPr>
            <a:r>
              <a:rPr lang="en-US" sz="2800" b="1" dirty="0">
                <a:solidFill>
                  <a:srgbClr val="003366"/>
                </a:solidFill>
              </a:rPr>
              <a:t>7. Bulk Processing &amp; Background Jobs</a:t>
            </a:r>
            <a:endParaRPr lang="en-US" sz="2800" dirty="0"/>
          </a:p>
        </p:txBody>
      </p:sp>
      <p:sp>
        <p:nvSpPr>
          <p:cNvPr id="3" name="Text 1"/>
          <p:cNvSpPr/>
          <p:nvPr/>
        </p:nvSpPr>
        <p:spPr>
          <a:xfrm>
            <a:off x="457200" y="1371600"/>
            <a:ext cx="8229600" cy="2743200"/>
          </a:xfrm>
          <a:prstGeom prst="rect">
            <a:avLst/>
          </a:prstGeom>
          <a:noFill/>
          <a:ln/>
        </p:spPr>
        <p:txBody>
          <a:bodyPr wrap="square" rtlCol="0" anchor="ctr"/>
          <a:lstStyle/>
          <a:p>
            <a:pPr indent="0" marL="0">
              <a:buNone/>
            </a:pPr>
            <a:r>
              <a:rPr lang="en-US" sz="1600" dirty="0">
                <a:solidFill>
                  <a:srgbClr val="333333"/>
                </a:solidFill>
              </a:rPr>
              <a:t>Functionality:</a:t>
            </a:r>
            <a:endParaRPr lang="en-US" sz="1600" dirty="0"/>
          </a:p>
          <a:p>
            <a:pPr indent="0" marL="0">
              <a:buNone/>
            </a:pPr>
            <a:r>
              <a:rPr lang="en-US" sz="1600" dirty="0">
                <a:solidFill>
                  <a:srgbClr val="333333"/>
                </a:solidFill>
              </a:rPr>
              <a:t>Asynchronous processing of large volumes of transactions without blocking the API.</a:t>
            </a:r>
            <a:endParaRPr lang="en-US" sz="1600" dirty="0"/>
          </a:p>
          <a:p>
            <a:pPr indent="0" marL="0">
              <a:buNone/>
            </a:pPr>
            <a:endParaRPr lang="en-US" sz="1600" dirty="0"/>
          </a:p>
          <a:p>
            <a:pPr indent="0" marL="0">
              <a:buNone/>
            </a:pPr>
            <a:r>
              <a:rPr lang="en-US" sz="1600" dirty="0">
                <a:solidFill>
                  <a:srgbClr val="333333"/>
                </a:solidFill>
              </a:rPr>
              <a:t>Theory:</a:t>
            </a:r>
            <a:endParaRPr lang="en-US" sz="1600" dirty="0"/>
          </a:p>
          <a:p>
            <a:pPr indent="0" marL="0">
              <a:buNone/>
            </a:pPr>
            <a:r>
              <a:rPr lang="en-US" sz="1600" dirty="0">
                <a:solidFill>
                  <a:srgbClr val="333333"/>
                </a:solidFill>
              </a:rPr>
              <a:t>When thousands of transactions are uploaded, the Bulk Route creates a batch_job with a unique ID and queues it. An asynchronous background process splits the payload into smaller batches (e.g., 50 at a time), processing them sequentially to prevent memory exhaustion and LLM rate limits. Clients poll the /api/bulk/jobs endpoint to get live progress updates.</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2026-06-07T14:31:36Z</dcterms:created>
  <dcterms:modified xsi:type="dcterms:W3CDTF">2026-06-07T14:31:36Z</dcterms:modified>
</cp:coreProperties>
</file>